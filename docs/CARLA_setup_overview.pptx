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64c5c5b-0d81-84bd-d2f6-d3dce4312154}">
          <p14:sldIdLst>
            <p14:sldId id="256"/>
            <p14:sldId id="257"/>
          </p14:sldIdLst>
        </p14:section>
        <p14:section name="What was built" id="{69996bea-d132-031c-da17-81ab5ca3007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tatus and next steps" id="{87fb2af1-eb59-5e77-dc29-8b148ff4743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2"/>
                </a:solidFill>
                <a:latin typeface="+mn-lt"/>
              </a:rPr>
              <a:t>Games per second on a 4-core cloud machine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Games per second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self-play, 1 core</c:v>
                  </c:pt>
                  <c:pt idx="1">
                    <c:v>Heuristic self-play, 1 core</c:v>
                  </c:pt>
                  <c:pt idx="2">
                    <c:v>Random self-play, 4 processes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95</c:v>
                </c:pt>
                <c:pt idx="2">
                  <c:v>166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first setup session: the rules engine is complete and tested; everything the other workstreams need has a working first version or a documented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that summarise the state of the repository, then the three things that were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Colours show which workstream owns each package. The engine has no dependencies at all, so it can be optimised or reused without touching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implements the official 4-player rules except player-to-player trading, whose interface is already defined. 399 tests include a 200-game sweep that checks every rule invariant after every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phases make legal actions easy to enumerate and make every decision a single environment step. Knights and Road Building interrupt the turn and return to the phase they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Logs store outcomes, not just the seed, so replays stay exact even if the random number generator changes. The text log numbers every step so a position can be loaded by its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policy first picks an action type, then only the heads that type needs. Masks remove illegal choices at every head, so a policy can never pick an illegal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heuristic bot is a meaningful benchmark and imitation-learning teacher: it beats random play every time, and four heuristic bots split wins evenly by seat. The Gym environment runs about 3,800 learner steps per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'next' item already has a stub with its interface and a TODO in the code, so each workstream can start immediately without waiting on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from the carla command. The README is the single source of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6309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CARLA · codebase setup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CARLA: codebase setup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A tested Catan rules engine, the RL tooling around it, and ready-to-fill interfaces for every workstream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06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ECSE 552 · Catan Advanced Reinforcement Learning Agent · branch “setup”</a:t>
            </a:r>
            <a:endParaRPr lang="en-US" sz="1400" dirty="0"/>
          </a:p>
        </p:txBody>
      </p:sp>
      <p:sp>
        <p:nvSpPr>
          <p:cNvPr id="5" name="engine hexagon"/>
          <p:cNvSpPr/>
          <p:nvPr/>
        </p:nvSpPr>
        <p:spPr>
          <a:xfrm>
            <a:off x="8755380" y="2805379"/>
            <a:ext cx="1417320" cy="1247242"/>
          </a:xfrm>
          <a:prstGeom prst="hexagon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eng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7064" y="3017410"/>
            <a:ext cx="473952" cy="473952"/>
          </a:xfrm>
          <a:prstGeom prst="rect">
            <a:avLst/>
          </a:prstGeom>
        </p:spPr>
      </p:pic>
      <p:sp>
        <p:nvSpPr>
          <p:cNvPr id="7" name="engine label"/>
          <p:cNvSpPr txBox="1"/>
          <p:nvPr/>
        </p:nvSpPr>
        <p:spPr>
          <a:xfrm>
            <a:off x="8755380" y="3553724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engine</a:t>
            </a:r>
            <a:endParaRPr lang="en-US" sz="1200" dirty="0"/>
          </a:p>
        </p:txBody>
      </p:sp>
      <p:sp>
        <p:nvSpPr>
          <p:cNvPr id="8" name="config hexagon"/>
          <p:cNvSpPr/>
          <p:nvPr/>
        </p:nvSpPr>
        <p:spPr>
          <a:xfrm>
            <a:off x="8755380" y="1483303"/>
            <a:ext cx="1417320" cy="1247242"/>
          </a:xfrm>
          <a:prstGeom prst="hexagon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9" name="confi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064" y="1695334"/>
            <a:ext cx="473952" cy="473952"/>
          </a:xfrm>
          <a:prstGeom prst="rect">
            <a:avLst/>
          </a:prstGeom>
        </p:spPr>
      </p:pic>
      <p:sp>
        <p:nvSpPr>
          <p:cNvPr id="10" name="config label"/>
          <p:cNvSpPr txBox="1"/>
          <p:nvPr/>
        </p:nvSpPr>
        <p:spPr>
          <a:xfrm>
            <a:off x="8755380" y="2231648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config</a:t>
            </a:r>
            <a:endParaRPr lang="en-US" sz="1200" dirty="0"/>
          </a:p>
        </p:txBody>
      </p:sp>
      <p:sp>
        <p:nvSpPr>
          <p:cNvPr id="11" name="envs hexagon"/>
          <p:cNvSpPr/>
          <p:nvPr/>
        </p:nvSpPr>
        <p:spPr>
          <a:xfrm>
            <a:off x="9882149" y="2144341"/>
            <a:ext cx="1417320" cy="1247242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2" name="env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833" y="2356372"/>
            <a:ext cx="473952" cy="473952"/>
          </a:xfrm>
          <a:prstGeom prst="rect">
            <a:avLst/>
          </a:prstGeom>
        </p:spPr>
      </p:pic>
      <p:sp>
        <p:nvSpPr>
          <p:cNvPr id="13" name="envs label"/>
          <p:cNvSpPr txBox="1"/>
          <p:nvPr/>
        </p:nvSpPr>
        <p:spPr>
          <a:xfrm>
            <a:off x="9882149" y="2892686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envs</a:t>
            </a:r>
            <a:endParaRPr lang="en-US" sz="1200" dirty="0"/>
          </a:p>
        </p:txBody>
      </p:sp>
      <p:sp>
        <p:nvSpPr>
          <p:cNvPr id="14" name="rl hexagon"/>
          <p:cNvSpPr/>
          <p:nvPr/>
        </p:nvSpPr>
        <p:spPr>
          <a:xfrm>
            <a:off x="9882149" y="3466417"/>
            <a:ext cx="1417320" cy="1247242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5" name="r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833" y="3678448"/>
            <a:ext cx="473952" cy="473952"/>
          </a:xfrm>
          <a:prstGeom prst="rect">
            <a:avLst/>
          </a:prstGeom>
        </p:spPr>
      </p:pic>
      <p:sp>
        <p:nvSpPr>
          <p:cNvPr id="16" name="rl label"/>
          <p:cNvSpPr txBox="1"/>
          <p:nvPr/>
        </p:nvSpPr>
        <p:spPr>
          <a:xfrm>
            <a:off x="9882149" y="4214762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rl</a:t>
            </a:r>
            <a:endParaRPr lang="en-US" sz="1200" dirty="0"/>
          </a:p>
        </p:txBody>
      </p:sp>
      <p:sp>
        <p:nvSpPr>
          <p:cNvPr id="17" name="agents · eval hexagon"/>
          <p:cNvSpPr/>
          <p:nvPr/>
        </p:nvSpPr>
        <p:spPr>
          <a:xfrm>
            <a:off x="8755380" y="4127455"/>
            <a:ext cx="1417320" cy="1247242"/>
          </a:xfrm>
          <a:prstGeom prst="hexagon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8" name="agents · eva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064" y="4339486"/>
            <a:ext cx="473952" cy="473952"/>
          </a:xfrm>
          <a:prstGeom prst="rect">
            <a:avLst/>
          </a:prstGeom>
        </p:spPr>
      </p:pic>
      <p:sp>
        <p:nvSpPr>
          <p:cNvPr id="19" name="agents · eval label"/>
          <p:cNvSpPr txBox="1"/>
          <p:nvPr/>
        </p:nvSpPr>
        <p:spPr>
          <a:xfrm>
            <a:off x="8755380" y="4875800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agents · eval</a:t>
            </a:r>
            <a:endParaRPr lang="en-US" sz="1200" dirty="0"/>
          </a:p>
        </p:txBody>
      </p:sp>
      <p:sp>
        <p:nvSpPr>
          <p:cNvPr id="20" name="gui hexagon"/>
          <p:cNvSpPr/>
          <p:nvPr/>
        </p:nvSpPr>
        <p:spPr>
          <a:xfrm>
            <a:off x="7628611" y="3466417"/>
            <a:ext cx="1417320" cy="1247242"/>
          </a:xfrm>
          <a:prstGeom prst="hexagon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gui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295" y="3678448"/>
            <a:ext cx="473952" cy="473952"/>
          </a:xfrm>
          <a:prstGeom prst="rect">
            <a:avLst/>
          </a:prstGeom>
        </p:spPr>
      </p:pic>
      <p:sp>
        <p:nvSpPr>
          <p:cNvPr id="22" name="gui label"/>
          <p:cNvSpPr txBox="1"/>
          <p:nvPr/>
        </p:nvSpPr>
        <p:spPr>
          <a:xfrm>
            <a:off x="7628611" y="4214762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gui</a:t>
            </a:r>
            <a:endParaRPr lang="en-US" sz="1200" dirty="0"/>
          </a:p>
        </p:txBody>
      </p:sp>
      <p:sp>
        <p:nvSpPr>
          <p:cNvPr id="23" name="models hexagon"/>
          <p:cNvSpPr/>
          <p:nvPr/>
        </p:nvSpPr>
        <p:spPr>
          <a:xfrm>
            <a:off x="7628611" y="2144341"/>
            <a:ext cx="1417320" cy="1247242"/>
          </a:xfrm>
          <a:prstGeom prst="hexagon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4" name="model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0295" y="2356372"/>
            <a:ext cx="473952" cy="473952"/>
          </a:xfrm>
          <a:prstGeom prst="rect">
            <a:avLst/>
          </a:prstGeom>
        </p:spPr>
      </p:pic>
      <p:sp>
        <p:nvSpPr>
          <p:cNvPr id="25" name="models label"/>
          <p:cNvSpPr txBox="1"/>
          <p:nvPr/>
        </p:nvSpPr>
        <p:spPr>
          <a:xfrm>
            <a:off x="7628611" y="2892686"/>
            <a:ext cx="1417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At a glance</a:t>
            </a:r>
            <a:endParaRPr lang="en-US" sz="3200" dirty="0"/>
          </a:p>
        </p:txBody>
      </p:sp>
      <p:sp>
        <p:nvSpPr>
          <p:cNvPr id="3" name="stat tests passing"/>
          <p:cNvSpPr/>
          <p:nvPr/>
        </p:nvSpPr>
        <p:spPr>
          <a:xfrm>
            <a:off x="548640" y="1417320"/>
            <a:ext cx="256717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399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tests passing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rule invariants, replays, envs, models</a:t>
            </a:r>
            <a:endParaRPr lang="en-US" sz="1600" dirty="0"/>
          </a:p>
        </p:txBody>
      </p:sp>
      <p:sp>
        <p:nvSpPr>
          <p:cNvPr id="6" name="stat decisions per second"/>
          <p:cNvSpPr/>
          <p:nvPr/>
        </p:nvSpPr>
        <p:spPr>
          <a:xfrm>
            <a:off x="3390138" y="1417320"/>
            <a:ext cx="256717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8738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64k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3618738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decisions per second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 one CPU core, in pure Python</a:t>
            </a:r>
            <a:endParaRPr lang="en-US" sz="1600" dirty="0"/>
          </a:p>
        </p:txBody>
      </p:sp>
      <p:sp>
        <p:nvSpPr>
          <p:cNvPr id="9" name="stat heuristic bot vs. random"/>
          <p:cNvSpPr/>
          <p:nvPr/>
        </p:nvSpPr>
        <p:spPr>
          <a:xfrm>
            <a:off x="6231636" y="1417320"/>
            <a:ext cx="256717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0236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100%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6460236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heuristic bot vs. random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won 80 of 80 games</a:t>
            </a:r>
            <a:endParaRPr lang="en-US" sz="1600" dirty="0"/>
          </a:p>
        </p:txBody>
      </p:sp>
      <p:sp>
        <p:nvSpPr>
          <p:cNvPr id="12" name="stat lines of source"/>
          <p:cNvSpPr/>
          <p:nvPr/>
        </p:nvSpPr>
        <p:spPr>
          <a:xfrm>
            <a:off x="9073134" y="1417320"/>
            <a:ext cx="256717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01734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4.4k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9301734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lines of source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plus 1.8k lines of tests · CI green</a:t>
            </a:r>
            <a:endParaRPr lang="en-US" sz="1600" dirty="0"/>
          </a:p>
        </p:txBody>
      </p:sp>
      <p:sp>
        <p:nvSpPr>
          <p:cNvPr id="15" name="Rules engine hexagon"/>
          <p:cNvSpPr/>
          <p:nvPr/>
        </p:nvSpPr>
        <p:spPr>
          <a:xfrm>
            <a:off x="548640" y="4160520"/>
            <a:ext cx="640080" cy="563270"/>
          </a:xfrm>
          <a:prstGeom prst="hexagon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Rules eng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4301338"/>
            <a:ext cx="281635" cy="28163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17320" y="4114800"/>
            <a:ext cx="2660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Rules engine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Full 4-player base game: deterministic, snapshot-able, logged</a:t>
            </a:r>
            <a:endParaRPr lang="en-US" sz="1600" dirty="0"/>
          </a:p>
        </p:txBody>
      </p:sp>
      <p:sp>
        <p:nvSpPr>
          <p:cNvPr id="18" name="RL tooling hexagon"/>
          <p:cNvSpPr/>
          <p:nvPr/>
        </p:nvSpPr>
        <p:spPr>
          <a:xfrm>
            <a:off x="4329684" y="4160520"/>
            <a:ext cx="640080" cy="563270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9" name="RL tool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06" y="4301338"/>
            <a:ext cx="281635" cy="28163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98364" y="4114800"/>
            <a:ext cx="2660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RL tooling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Experiment configs, Gym and self-play envs, action masks, observations</a:t>
            </a:r>
            <a:endParaRPr lang="en-US" sz="1600" dirty="0"/>
          </a:p>
        </p:txBody>
      </p:sp>
      <p:sp>
        <p:nvSpPr>
          <p:cNvPr id="21" name="Interfaces for every workstream hexagon"/>
          <p:cNvSpPr/>
          <p:nvPr/>
        </p:nvSpPr>
        <p:spPr>
          <a:xfrm>
            <a:off x="8110728" y="4160520"/>
            <a:ext cx="640080" cy="563270"/>
          </a:xfrm>
          <a:prstGeom prst="hexagon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2" name="Interfaces for every workstream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950" y="4301338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979408" y="4114800"/>
            <a:ext cx="2660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Interfaces for every workstream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Models, PPO, bots, evaluation and GUI can now start in parallel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repo, four workstreams, clean boundaries</a:t>
            </a:r>
            <a:endParaRPr lang="en-US" sz="3200" dirty="0"/>
          </a:p>
        </p:txBody>
      </p:sp>
      <p:sp>
        <p:nvSpPr>
          <p:cNvPr id="3" name="module models"/>
          <p:cNvSpPr/>
          <p:nvPr/>
        </p:nvSpPr>
        <p:spPr>
          <a:xfrm>
            <a:off x="548640" y="14173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4" name="model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848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54533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policy networks (torch)</a:t>
            </a:r>
            <a:endParaRPr lang="en-US" sz="1600" dirty="0"/>
          </a:p>
        </p:txBody>
      </p:sp>
      <p:sp>
        <p:nvSpPr>
          <p:cNvPr id="6" name="module rl"/>
          <p:cNvSpPr/>
          <p:nvPr/>
        </p:nvSpPr>
        <p:spPr>
          <a:xfrm>
            <a:off x="2560320" y="14173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7" name="r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1848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0400" y="154533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PPO, rollouts, training (torch)</a:t>
            </a:r>
            <a:endParaRPr lang="en-US" sz="1600" dirty="0"/>
          </a:p>
        </p:txBody>
      </p:sp>
      <p:sp>
        <p:nvSpPr>
          <p:cNvPr id="9" name="module eval"/>
          <p:cNvSpPr/>
          <p:nvPr/>
        </p:nvSpPr>
        <p:spPr>
          <a:xfrm>
            <a:off x="4572000" y="14173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0" name="eval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1848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212080" y="154533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games, tournaments, CIs</a:t>
            </a:r>
            <a:endParaRPr lang="en-US" sz="1600" dirty="0"/>
          </a:p>
        </p:txBody>
      </p:sp>
      <p:sp>
        <p:nvSpPr>
          <p:cNvPr id="12" name="module gui"/>
          <p:cNvSpPr/>
          <p:nvPr/>
        </p:nvSpPr>
        <p:spPr>
          <a:xfrm>
            <a:off x="6583680" y="141732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3" name="gui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618488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223760" y="154533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Arcade viewer and play</a:t>
            </a:r>
            <a:endParaRPr lang="en-US" sz="1600" dirty="0"/>
          </a:p>
        </p:txBody>
      </p:sp>
      <p:sp>
        <p:nvSpPr>
          <p:cNvPr id="15" name="module envs"/>
          <p:cNvSpPr/>
          <p:nvPr/>
        </p:nvSpPr>
        <p:spPr>
          <a:xfrm>
            <a:off x="548640" y="2788920"/>
            <a:ext cx="249933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6" name="env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90088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88720" y="2916936"/>
            <a:ext cx="172209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observations, masks, rewards</a:t>
            </a:r>
            <a:endParaRPr lang="en-US" sz="1600" dirty="0"/>
          </a:p>
        </p:txBody>
      </p:sp>
      <p:sp>
        <p:nvSpPr>
          <p:cNvPr id="18" name="module agents"/>
          <p:cNvSpPr/>
          <p:nvPr/>
        </p:nvSpPr>
        <p:spPr>
          <a:xfrm>
            <a:off x="3230850" y="2788920"/>
            <a:ext cx="249933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9" name="agent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3730" y="299008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870930" y="2916936"/>
            <a:ext cx="172209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bot interface and baselines</a:t>
            </a:r>
            <a:endParaRPr lang="en-US" sz="1600" dirty="0"/>
          </a:p>
        </p:txBody>
      </p:sp>
      <p:sp>
        <p:nvSpPr>
          <p:cNvPr id="21" name="module config"/>
          <p:cNvSpPr/>
          <p:nvPr/>
        </p:nvSpPr>
        <p:spPr>
          <a:xfrm>
            <a:off x="5913059" y="2788920"/>
            <a:ext cx="249933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2" name="config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39" y="2990088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553139" y="2916936"/>
            <a:ext cx="172209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typed YAML experiment configs</a:t>
            </a:r>
            <a:endParaRPr lang="en-US" sz="1600" dirty="0"/>
          </a:p>
        </p:txBody>
      </p:sp>
      <p:sp>
        <p:nvSpPr>
          <p:cNvPr id="24" name="module engine"/>
          <p:cNvSpPr/>
          <p:nvPr/>
        </p:nvSpPr>
        <p:spPr>
          <a:xfrm>
            <a:off x="548640" y="4160520"/>
            <a:ext cx="78638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5" name="engine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361688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188720" y="4288536"/>
            <a:ext cx="7086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rules · state · legal actions · logs (Python standard library only)</a:t>
            </a:r>
            <a:endParaRPr lang="en-US" sz="16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577840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960120" y="5532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layer imports only from the layers below it; torch appears only in models and rl.</a:t>
            </a:r>
            <a:endParaRPr lang="en-US" sz="1300" dirty="0"/>
          </a:p>
        </p:txBody>
      </p:sp>
      <p:sp>
        <p:nvSpPr>
          <p:cNvPr id="29" name="Text 18"/>
          <p:cNvSpPr txBox="1"/>
          <p:nvPr/>
        </p:nvSpPr>
        <p:spPr>
          <a:xfrm>
            <a:off x="891540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Owner</a:t>
            </a:r>
            <a:endParaRPr lang="en-US" sz="1600" dirty="0"/>
          </a:p>
        </p:txBody>
      </p:sp>
      <p:sp>
        <p:nvSpPr>
          <p:cNvPr id="30" name="legend Engine"/>
          <p:cNvSpPr/>
          <p:nvPr/>
        </p:nvSpPr>
        <p:spPr>
          <a:xfrm>
            <a:off x="8915400" y="1920240"/>
            <a:ext cx="365760" cy="320040"/>
          </a:xfrm>
          <a:prstGeom prst="hexagon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1" name="Text 20"/>
          <p:cNvSpPr txBox="1"/>
          <p:nvPr/>
        </p:nvSpPr>
        <p:spPr>
          <a:xfrm>
            <a:off x="9464040" y="1892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Engine</a:t>
            </a:r>
            <a:endParaRPr lang="en-US" sz="1400" dirty="0"/>
          </a:p>
        </p:txBody>
      </p:sp>
      <p:sp>
        <p:nvSpPr>
          <p:cNvPr id="32" name="legend RL"/>
          <p:cNvSpPr/>
          <p:nvPr/>
        </p:nvSpPr>
        <p:spPr>
          <a:xfrm>
            <a:off x="8915400" y="2423160"/>
            <a:ext cx="365760" cy="320040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946404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RL</a:t>
            </a:r>
            <a:endParaRPr lang="en-US" sz="1400" dirty="0"/>
          </a:p>
        </p:txBody>
      </p:sp>
      <p:sp>
        <p:nvSpPr>
          <p:cNvPr id="34" name="legend Models"/>
          <p:cNvSpPr/>
          <p:nvPr/>
        </p:nvSpPr>
        <p:spPr>
          <a:xfrm>
            <a:off x="8915400" y="2926080"/>
            <a:ext cx="365760" cy="320040"/>
          </a:xfrm>
          <a:prstGeom prst="hexagon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9464040" y="2898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Models</a:t>
            </a:r>
            <a:endParaRPr lang="en-US" sz="1400" dirty="0"/>
          </a:p>
        </p:txBody>
      </p:sp>
      <p:sp>
        <p:nvSpPr>
          <p:cNvPr id="36" name="legend Eval &amp; bots"/>
          <p:cNvSpPr/>
          <p:nvPr/>
        </p:nvSpPr>
        <p:spPr>
          <a:xfrm>
            <a:off x="8915400" y="3429000"/>
            <a:ext cx="365760" cy="320040"/>
          </a:xfrm>
          <a:prstGeom prst="hexagon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94640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 &amp; bots</a:t>
            </a:r>
            <a:endParaRPr lang="en-US" sz="1400" dirty="0"/>
          </a:p>
        </p:txBody>
      </p:sp>
      <p:sp>
        <p:nvSpPr>
          <p:cNvPr id="38" name="legend GUI"/>
          <p:cNvSpPr/>
          <p:nvPr/>
        </p:nvSpPr>
        <p:spPr>
          <a:xfrm>
            <a:off x="8915400" y="3931920"/>
            <a:ext cx="365760" cy="320040"/>
          </a:xfrm>
          <a:prstGeom prst="hexagon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946404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GUI</a:t>
            </a:r>
            <a:endParaRPr lang="en-US" sz="1400" dirty="0"/>
          </a:p>
        </p:txBody>
      </p:sp>
      <p:sp>
        <p:nvSpPr>
          <p:cNvPr id="40" name="legend Shared"/>
          <p:cNvSpPr/>
          <p:nvPr/>
        </p:nvSpPr>
        <p:spPr>
          <a:xfrm>
            <a:off x="8915400" y="4434840"/>
            <a:ext cx="365760" cy="320040"/>
          </a:xfrm>
          <a:prstGeom prst="hexagon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9464040" y="4407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from-scratch Catan engine</a:t>
            </a:r>
            <a:endParaRPr lang="en-US" sz="3200" dirty="0"/>
          </a:p>
        </p:txBody>
      </p:sp>
      <p:pic>
        <p:nvPicPr>
          <p:cNvPr id="3" name="board id map" descr="/home/user/carla/docs/img/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58968" cy="47457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Fixed board graph: 19 tiles · 54 corners · 72 edges · 9 ports. These ids are used everywhere.</a:t>
            </a:r>
            <a:endParaRPr lang="en-US" sz="1100" dirty="0"/>
          </a:p>
        </p:txBody>
      </p:sp>
      <p:sp>
        <p:nvSpPr>
          <p:cNvPr id="5" name="Full base rules hexagon"/>
          <p:cNvSpPr/>
          <p:nvPr/>
        </p:nvSpPr>
        <p:spPr>
          <a:xfrm>
            <a:off x="6400800" y="1325880"/>
            <a:ext cx="502920" cy="442570"/>
          </a:xfrm>
          <a:prstGeom prst="hexagon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Full base rul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1436522"/>
            <a:ext cx="221285" cy="221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132320" y="1280160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Full base rules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Setup draft, production with bank shortage, robber and discards, building, maritime trade, all development cards, Longest Road with cuts, Largest Army</a:t>
            </a:r>
            <a:endParaRPr lang="en-US" sz="1500" dirty="0"/>
          </a:p>
        </p:txBody>
      </p:sp>
      <p:sp>
        <p:nvSpPr>
          <p:cNvPr id="8" name="Exact legal actions hexagon"/>
          <p:cNvSpPr/>
          <p:nvPr/>
        </p:nvSpPr>
        <p:spPr>
          <a:xfrm>
            <a:off x="6400800" y="2331720"/>
            <a:ext cx="502920" cy="442570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9" name="Exact legal actio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2442362"/>
            <a:ext cx="221285" cy="2212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132320" y="22860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Exact legal actions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Enumerated at every step from 332 pre-built actions; they become the policy's masks</a:t>
            </a:r>
            <a:endParaRPr lang="en-US" sz="1500" dirty="0"/>
          </a:p>
        </p:txBody>
      </p:sp>
      <p:sp>
        <p:nvSpPr>
          <p:cNvPr id="11" name="Snapshot · restore · clone hexagon"/>
          <p:cNvSpPr/>
          <p:nvPr/>
        </p:nvSpPr>
        <p:spPr>
          <a:xfrm>
            <a:off x="6400800" y="3246120"/>
            <a:ext cx="502920" cy="442570"/>
          </a:xfrm>
          <a:prstGeom prst="hexagon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2" name="Snapshot · restore · clon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356762"/>
            <a:ext cx="221285" cy="22128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132320" y="32004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Snapshot · restore · clone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Cheap full copies of a game for search methods</a:t>
            </a:r>
            <a:endParaRPr lang="en-US" sz="1500" dirty="0"/>
          </a:p>
        </p:txBody>
      </p:sp>
      <p:sp>
        <p:nvSpPr>
          <p:cNvPr id="14" name="Deterministic hexagon"/>
          <p:cNvSpPr/>
          <p:nvPr/>
        </p:nvSpPr>
        <p:spPr>
          <a:xfrm>
            <a:off x="6400800" y="4160520"/>
            <a:ext cx="502920" cy="442570"/>
          </a:xfrm>
          <a:prstGeom prst="hexagon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5" name="Determinist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8" y="4271162"/>
            <a:ext cx="221285" cy="22128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132320" y="41148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Deterministic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Same seed, same game; the RNG is stable across Python versions</a:t>
            </a:r>
            <a:endParaRPr lang="en-US" sz="1500" dirty="0"/>
          </a:p>
        </p:txBody>
      </p:sp>
      <p:sp>
        <p:nvSpPr>
          <p:cNvPr id="17" name="Fast hexagon"/>
          <p:cNvSpPr/>
          <p:nvPr/>
        </p:nvSpPr>
        <p:spPr>
          <a:xfrm>
            <a:off x="6400800" y="5074920"/>
            <a:ext cx="502920" cy="442570"/>
          </a:xfrm>
          <a:prstGeom prst="hexagon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8" name="Fas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185562"/>
            <a:ext cx="221285" cy="22128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132320" y="502920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Fast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About 64k decisions/s on one core, 166 games/s on 4 processes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Each turn is an explicit state machine</a:t>
            </a:r>
            <a:endParaRPr lang="en-US" sz="3200" dirty="0"/>
          </a:p>
        </p:txBody>
      </p:sp>
      <p:sp>
        <p:nvSpPr>
          <p:cNvPr id="3" name="phase SETUP"/>
          <p:cNvSpPr/>
          <p:nvPr/>
        </p:nvSpPr>
        <p:spPr>
          <a:xfrm>
            <a:off x="548640" y="214884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488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settlement + road ×8</a:t>
            </a:r>
            <a:endParaRPr lang="en-US" sz="1400" dirty="0"/>
          </a:p>
        </p:txBody>
      </p:sp>
      <p:sp>
        <p:nvSpPr>
          <p:cNvPr id="5" name="phase PRE_ROLL"/>
          <p:cNvSpPr/>
          <p:nvPr/>
        </p:nvSpPr>
        <p:spPr>
          <a:xfrm>
            <a:off x="3337560" y="214884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47288" y="21488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PRE_ROLL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roll or play a card</a:t>
            </a:r>
            <a:endParaRPr lang="en-US" sz="1400" dirty="0"/>
          </a:p>
        </p:txBody>
      </p:sp>
      <p:sp>
        <p:nvSpPr>
          <p:cNvPr id="7" name="phase MAIN"/>
          <p:cNvSpPr/>
          <p:nvPr/>
        </p:nvSpPr>
        <p:spPr>
          <a:xfrm>
            <a:off x="6126480" y="214884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36208" y="21488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build · trade · buy · play</a:t>
            </a:r>
            <a:endParaRPr lang="en-US" sz="1400" dirty="0"/>
          </a:p>
        </p:txBody>
      </p:sp>
      <p:sp>
        <p:nvSpPr>
          <p:cNvPr id="9" name="phase GAME_OVER"/>
          <p:cNvSpPr/>
          <p:nvPr/>
        </p:nvSpPr>
        <p:spPr>
          <a:xfrm>
            <a:off x="9628632" y="214884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38360" y="21488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10 VP or turn limit</a:t>
            </a:r>
            <a:endParaRPr lang="en-US" sz="1400" dirty="0"/>
          </a:p>
        </p:txBody>
      </p:sp>
      <p:sp>
        <p:nvSpPr>
          <p:cNvPr id="11" name="phase DISCARD"/>
          <p:cNvSpPr/>
          <p:nvPr/>
        </p:nvSpPr>
        <p:spPr>
          <a:xfrm>
            <a:off x="3337560" y="434340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43434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DISCARD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over 7 cards: discard half</a:t>
            </a:r>
            <a:endParaRPr lang="en-US" sz="1400" dirty="0"/>
          </a:p>
        </p:txBody>
      </p:sp>
      <p:sp>
        <p:nvSpPr>
          <p:cNvPr id="13" name="phase MOVE_ROBBER"/>
          <p:cNvSpPr/>
          <p:nvPr/>
        </p:nvSpPr>
        <p:spPr>
          <a:xfrm>
            <a:off x="6126480" y="434340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43434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MOVE_ROBBER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move it and steal</a:t>
            </a:r>
            <a:endParaRPr lang="en-US" sz="1400" dirty="0"/>
          </a:p>
        </p:txBody>
      </p:sp>
      <p:sp>
        <p:nvSpPr>
          <p:cNvPr id="15" name="phase ROAD_BUILDING"/>
          <p:cNvSpPr/>
          <p:nvPr/>
        </p:nvSpPr>
        <p:spPr>
          <a:xfrm>
            <a:off x="9628632" y="434340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38360" y="43434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ROAD_BUILDING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place 2 free roads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60320" y="2583180"/>
            <a:ext cx="7772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49240" y="2583180"/>
            <a:ext cx="7772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349240" y="22357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roll ≠ 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2583180"/>
            <a:ext cx="1490472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138160" y="223570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 VP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017520"/>
            <a:ext cx="0" cy="13258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453128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roll 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4777740"/>
            <a:ext cx="77724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6812280" y="3017520"/>
            <a:ext cx="0" cy="13258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3017520"/>
            <a:ext cx="0" cy="132588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562088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knight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2880360"/>
            <a:ext cx="1490472" cy="16002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914400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Road Building card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V="1">
            <a:off x="7132320" y="1691640"/>
            <a:ext cx="0" cy="4572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4343400" y="1691640"/>
            <a:ext cx="27889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1691640"/>
            <a:ext cx="0" cy="4572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57200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end turn → next seat</a:t>
            </a:r>
            <a:endParaRPr lang="en-US" sz="1100" dirty="0"/>
          </a:p>
        </p:txBody>
      </p:sp>
      <p:sp>
        <p:nvSpPr>
          <p:cNvPr id="34" name="note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5321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seat that must decide can differ from the seat whose turn it is: after a 7, every player with more than 7 cards discards, one card per decision.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Every game is logged and replayable</a:t>
            </a:r>
            <a:endParaRPr lang="en-US" sz="3200" dirty="0"/>
          </a:p>
        </p:txBody>
      </p:sp>
      <p:sp>
        <p:nvSpPr>
          <p:cNvPr id="3" name="step Play"/>
          <p:cNvSpPr/>
          <p:nvPr/>
        </p:nvSpPr>
        <p:spPr>
          <a:xfrm>
            <a:off x="548640" y="1371600"/>
            <a:ext cx="34107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lay hexagon"/>
          <p:cNvSpPr/>
          <p:nvPr/>
        </p:nvSpPr>
        <p:spPr>
          <a:xfrm>
            <a:off x="731520" y="1554480"/>
            <a:ext cx="548640" cy="482803"/>
          </a:xfrm>
          <a:prstGeom prst="hexagon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Pl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675181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08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Play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seed + config give a Game; every decision and its chance outcome (dice, card drawn, card stolen) is kept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5072" y="1984248"/>
            <a:ext cx="27432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tep Save"/>
          <p:cNvSpPr/>
          <p:nvPr/>
        </p:nvSpPr>
        <p:spPr>
          <a:xfrm>
            <a:off x="4325112" y="1371600"/>
            <a:ext cx="34107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ave hexagon"/>
          <p:cNvSpPr/>
          <p:nvPr/>
        </p:nvSpPr>
        <p:spPr>
          <a:xfrm>
            <a:off x="4507992" y="1554480"/>
            <a:ext cx="548640" cy="482803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0" name="Sav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611" y="167518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85232" y="1508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Save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GameRecord as .json or .json.gz (about 22 KB per game) plus a readable .txt log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781544" y="1984248"/>
            <a:ext cx="27432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ep Load any position"/>
          <p:cNvSpPr/>
          <p:nvPr/>
        </p:nvSpPr>
        <p:spPr>
          <a:xfrm>
            <a:off x="8101584" y="1371600"/>
            <a:ext cx="34107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Load any position hexagon"/>
          <p:cNvSpPr/>
          <p:nvPr/>
        </p:nvSpPr>
        <p:spPr>
          <a:xfrm>
            <a:off x="8284464" y="1554480"/>
            <a:ext cx="548640" cy="482803"/>
          </a:xfrm>
          <a:prstGeom prst="hexagon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5" name="Load any posi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083" y="1675181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61704" y="1508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Load any position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record.replay(k) rebuilds the exact state after step k; per-step hashes catch any divergence</a:t>
            </a:r>
            <a:endParaRPr lang="en-US" sz="1600" dirty="0"/>
          </a:p>
        </p:txBody>
      </p:sp>
      <p:sp>
        <p:nvSpPr>
          <p:cNvPr id="17" name="log excerpt"/>
          <p:cNvSpPr/>
          <p:nvPr/>
        </p:nvSpPr>
        <p:spPr>
          <a:xfrm>
            <a:off x="548640" y="2971800"/>
            <a:ext cx="7223760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3200400"/>
            <a:ext cx="6766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Turn 1 | P0 ==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#17    P0 rolls 3+4 = 7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#18    P0 moves the robber to tile 10 (ore 4)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P0 steals ore from P2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#19    P0 ends the turn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9FD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carla replay game.json.gz --step 18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9D3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board, hands and VP right after #18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3474720"/>
            <a:ext cx="3502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Reproduce any bug from a log file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Imitation-learning datasets come for free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GUI replay viewer reads the same format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Old logs still load after engine changes, or fail loudly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Each decision: a few small, masked heads</a:t>
            </a:r>
            <a:endParaRPr lang="en-US" sz="3200" dirty="0"/>
          </a:p>
        </p:txBody>
      </p:sp>
      <p:sp>
        <p:nvSpPr>
          <p:cNvPr id="3" name="type head"/>
          <p:cNvSpPr/>
          <p:nvPr/>
        </p:nvSpPr>
        <p:spPr>
          <a:xfrm>
            <a:off x="548640" y="329184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15 action types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2286000" y="1645920"/>
            <a:ext cx="548640" cy="20116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6" name="head corner · 54"/>
          <p:cNvSpPr/>
          <p:nvPr/>
        </p:nvSpPr>
        <p:spPr>
          <a:xfrm>
            <a:off x="2834640" y="1371600"/>
            <a:ext cx="251460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371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corner · 54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settlement / city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2286000" y="2432304"/>
            <a:ext cx="548640" cy="122529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0" name="head edge · 72"/>
          <p:cNvSpPr/>
          <p:nvPr/>
        </p:nvSpPr>
        <p:spPr>
          <a:xfrm>
            <a:off x="2834640" y="2157984"/>
            <a:ext cx="251460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1579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· 72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1579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road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2286000" y="3218688"/>
            <a:ext cx="548640" cy="43891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4" name="head tile · 19 → victim · 4"/>
          <p:cNvSpPr/>
          <p:nvPr/>
        </p:nvSpPr>
        <p:spPr>
          <a:xfrm>
            <a:off x="2834640" y="2944368"/>
            <a:ext cx="251460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34640" y="2944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tile · 19 → victim · 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2944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move the robber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657600"/>
            <a:ext cx="548640" cy="34747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8" name="head dev · 5 → resource(s)"/>
          <p:cNvSpPr/>
          <p:nvPr/>
        </p:nvSpPr>
        <p:spPr>
          <a:xfrm>
            <a:off x="2834640" y="3730752"/>
            <a:ext cx="251460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37307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· 5 → resource(s)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730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play a development card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0" y="3657600"/>
            <a:ext cx="548640" cy="113385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2" name="head resource · 5"/>
          <p:cNvSpPr/>
          <p:nvPr/>
        </p:nvSpPr>
        <p:spPr>
          <a:xfrm>
            <a:off x="2834640" y="4517136"/>
            <a:ext cx="251460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45171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· 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45171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discard one card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3657600"/>
            <a:ext cx="548640" cy="19202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6" name="head give · 5 → get · 5"/>
          <p:cNvSpPr/>
          <p:nvPr/>
        </p:nvSpPr>
        <p:spPr>
          <a:xfrm>
            <a:off x="2834640" y="5303520"/>
            <a:ext cx="251460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34640" y="5303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· 5 → get · 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trade with the bank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1325880"/>
            <a:ext cx="3913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contract between workstreams</a:t>
            </a:r>
            <a:endParaRPr lang="en-US" sz="1700" dirty="0"/>
          </a:p>
        </p:txBody>
      </p:sp>
      <p:sp>
        <p:nvSpPr>
          <p:cNvPr id="30" name="Observation hexagon"/>
          <p:cNvSpPr/>
          <p:nvPr/>
        </p:nvSpPr>
        <p:spPr>
          <a:xfrm>
            <a:off x="7726680" y="1965960"/>
            <a:ext cx="502920" cy="442570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31" name="Observa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498" y="2076602"/>
            <a:ext cx="221285" cy="221285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458200" y="192024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Observation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Per-node arrays for tiles, corners and edges, seats relative to the actor, own hand, public event stream. No coordinates, so graph models are rotation-invariant.</a:t>
            </a:r>
            <a:endParaRPr lang="en-US" sz="1500" dirty="0"/>
          </a:p>
        </p:txBody>
      </p:sp>
      <p:sp>
        <p:nvSpPr>
          <p:cNvPr id="33" name="Masks hexagon"/>
          <p:cNvSpPr/>
          <p:nvPr/>
        </p:nvSpPr>
        <p:spPr>
          <a:xfrm>
            <a:off x="7726680" y="3383280"/>
            <a:ext cx="502920" cy="442570"/>
          </a:xfrm>
          <a:prstGeom prst="hexagon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4" name="Mask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498" y="3493922"/>
            <a:ext cx="221285" cy="221285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458200" y="333756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Masks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11 boolean arrays. 2-D masks make dependent heads exact, e.g. which victims depend on the chosen tile.</a:t>
            </a:r>
            <a:endParaRPr lang="en-US" sz="1500" dirty="0"/>
          </a:p>
        </p:txBody>
      </p:sp>
      <p:sp>
        <p:nvSpPr>
          <p:cNvPr id="36" name="Proven hexagon"/>
          <p:cNvSpPr/>
          <p:nvPr/>
        </p:nvSpPr>
        <p:spPr>
          <a:xfrm>
            <a:off x="7726680" y="4800600"/>
            <a:ext cx="502920" cy="442570"/>
          </a:xfrm>
          <a:prstGeom prst="hexagon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37" name="Prove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498" y="4911242"/>
            <a:ext cx="221285" cy="221285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458200" y="475488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Proven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Masks match legal actions exactly (brute-force test); sampled actions are always legal and probabilities sum to 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Baselines, evaluation and speed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2179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urnament result"/>
          <p:cNvSpPr/>
          <p:nvPr/>
        </p:nvSpPr>
        <p:spPr>
          <a:xfrm>
            <a:off x="7132320" y="1371600"/>
            <a:ext cx="450799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508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 / 80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468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games won by the heuristic bot against three random bots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95% confidence interval: 95.4% to 100% (Wilson)</a:t>
            </a:r>
            <a:endParaRPr lang="en-US" sz="1500" dirty="0"/>
          </a:p>
        </p:txBody>
      </p:sp>
      <p:sp>
        <p:nvSpPr>
          <p:cNvPr id="7" name="Tournaments hexagon"/>
          <p:cNvSpPr/>
          <p:nvPr/>
        </p:nvSpPr>
        <p:spPr>
          <a:xfrm>
            <a:off x="7132320" y="3977640"/>
            <a:ext cx="502920" cy="442570"/>
          </a:xfrm>
          <a:prstGeom prst="hexagon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8" name="Tournamen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138" y="4088282"/>
            <a:ext cx="221285" cy="2212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3931920"/>
            <a:ext cx="3776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Tournaments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Seeded and seat-rotating; any number of workers gives identical results</a:t>
            </a:r>
            <a:endParaRPr lang="en-US" sz="1500" dirty="0"/>
          </a:p>
        </p:txBody>
      </p:sp>
      <p:sp>
        <p:nvSpPr>
          <p:cNvPr id="10" name="Bots hexagon"/>
          <p:cNvSpPr/>
          <p:nvPr/>
        </p:nvSpPr>
        <p:spPr>
          <a:xfrm>
            <a:off x="7132320" y="5074920"/>
            <a:ext cx="502920" cy="442570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1" name="Bot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138" y="5185562"/>
            <a:ext cx="221285" cy="2212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63840" y="5029200"/>
            <a:ext cx="3776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Bots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Random and greedy heuristic baselines, picked by name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Done vs. next, per workstream</a:t>
            </a:r>
            <a:endParaRPr lang="en-US" sz="3200" dirty="0"/>
          </a:p>
        </p:txBody>
      </p:sp>
      <p:sp>
        <p:nvSpPr>
          <p:cNvPr id="3" name="column Engine"/>
          <p:cNvSpPr/>
          <p:nvPr/>
        </p:nvSpPr>
        <p:spPr>
          <a:xfrm>
            <a:off x="548640" y="1325880"/>
            <a:ext cx="2035454" cy="48920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Engine hexagon"/>
          <p:cNvSpPr/>
          <p:nvPr/>
        </p:nvSpPr>
        <p:spPr>
          <a:xfrm>
            <a:off x="731520" y="1508760"/>
            <a:ext cx="502920" cy="442570"/>
          </a:xfrm>
          <a:prstGeom prst="hexagon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5" name="Eng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619402"/>
            <a:ext cx="221285" cy="2212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Engine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58568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5603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Full base rules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Logs and replay to any step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Snapshots and rule-invariant tests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7024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Next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4572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Domestic trading (interface ready)</a:t>
            </a:r>
            <a:endParaRPr lang="en-US" sz="1200" dirty="0"/>
          </a:p>
        </p:txBody>
      </p:sp>
      <p:sp>
        <p:nvSpPr>
          <p:cNvPr id="13" name="column RL"/>
          <p:cNvSpPr/>
          <p:nvPr/>
        </p:nvSpPr>
        <p:spPr>
          <a:xfrm>
            <a:off x="2812694" y="1325880"/>
            <a:ext cx="2035454" cy="48920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RL hexagon"/>
          <p:cNvSpPr/>
          <p:nvPr/>
        </p:nvSpPr>
        <p:spPr>
          <a:xfrm>
            <a:off x="2995574" y="1508760"/>
            <a:ext cx="502920" cy="442570"/>
          </a:xfrm>
          <a:prstGeom prst="hexagon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5" name="R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619402"/>
            <a:ext cx="221285" cy="22128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589934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RL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574" y="2258568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269894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2995574" y="25603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Gym and self-play envs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Masks, observations, rewards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GAE, rollouts, checkpoints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574" y="4270248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269894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Next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2995574" y="4572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PPO update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Async rollout workers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Opponent pool</a:t>
            </a:r>
            <a:endParaRPr lang="en-US" sz="1200" dirty="0"/>
          </a:p>
        </p:txBody>
      </p:sp>
      <p:sp>
        <p:nvSpPr>
          <p:cNvPr id="23" name="column Models"/>
          <p:cNvSpPr/>
          <p:nvPr/>
        </p:nvSpPr>
        <p:spPr>
          <a:xfrm>
            <a:off x="5076749" y="1325880"/>
            <a:ext cx="2035454" cy="48920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Models hexagon"/>
          <p:cNvSpPr/>
          <p:nvPr/>
        </p:nvSpPr>
        <p:spPr>
          <a:xfrm>
            <a:off x="5259629" y="1508760"/>
            <a:ext cx="502920" cy="442570"/>
          </a:xfrm>
          <a:prstGeom prst="hexagon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5" name="Model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446" y="1619402"/>
            <a:ext cx="221285" cy="22128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853989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Models</a:t>
            </a:r>
            <a:endParaRPr lang="en-US" sz="16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9629" y="2258568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533949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5259629" y="25603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Masked action distribution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MLP baseline</a:t>
            </a:r>
            <a:endParaRPr lang="en-US" sz="12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9629" y="4270248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533949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Next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5259629" y="4572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GNN board encoder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Set attention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Belief module (GRU)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Trade decoder</a:t>
            </a:r>
            <a:endParaRPr lang="en-US" sz="1200" dirty="0"/>
          </a:p>
        </p:txBody>
      </p:sp>
      <p:sp>
        <p:nvSpPr>
          <p:cNvPr id="33" name="column Eval &amp; bots"/>
          <p:cNvSpPr/>
          <p:nvPr/>
        </p:nvSpPr>
        <p:spPr>
          <a:xfrm>
            <a:off x="7340803" y="1325880"/>
            <a:ext cx="2035454" cy="48920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Eval &amp; bots hexagon"/>
          <p:cNvSpPr/>
          <p:nvPr/>
        </p:nvSpPr>
        <p:spPr>
          <a:xfrm>
            <a:off x="7523683" y="1508760"/>
            <a:ext cx="502920" cy="442570"/>
          </a:xfrm>
          <a:prstGeom prst="hexagon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35" name="Eval &amp; bots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501" y="1619402"/>
            <a:ext cx="221285" cy="221285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118043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 &amp; bots</a:t>
            </a:r>
            <a:endParaRPr lang="en-US" sz="16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3683" y="2258568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7798003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39" name="Text 26"/>
          <p:cNvSpPr txBox="1"/>
          <p:nvPr/>
        </p:nvSpPr>
        <p:spPr>
          <a:xfrm>
            <a:off x="7523683" y="25603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Random and heuristic bots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Tournaments with CIs</a:t>
            </a:r>
            <a:endParaRPr lang="en-US" sz="12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3683" y="4270248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7798003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Next</a:t>
            </a:r>
            <a:endParaRPr lang="en-US" sz="1300" dirty="0"/>
          </a:p>
        </p:txBody>
      </p:sp>
      <p:sp>
        <p:nvSpPr>
          <p:cNvPr id="42" name="Text 28"/>
          <p:cNvSpPr txBox="1"/>
          <p:nvPr/>
        </p:nvSpPr>
        <p:spPr>
          <a:xfrm>
            <a:off x="7523683" y="4572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Stronger heuristics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Plots for the report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Trade metrics</a:t>
            </a:r>
            <a:endParaRPr lang="en-US" sz="1200" dirty="0"/>
          </a:p>
        </p:txBody>
      </p:sp>
      <p:sp>
        <p:nvSpPr>
          <p:cNvPr id="43" name="column GUI"/>
          <p:cNvSpPr/>
          <p:nvPr/>
        </p:nvSpPr>
        <p:spPr>
          <a:xfrm>
            <a:off x="9604858" y="1325880"/>
            <a:ext cx="2035454" cy="489204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4" name="GUI hexagon"/>
          <p:cNvSpPr/>
          <p:nvPr/>
        </p:nvSpPr>
        <p:spPr>
          <a:xfrm>
            <a:off x="9787738" y="1508760"/>
            <a:ext cx="502920" cy="442570"/>
          </a:xfrm>
          <a:prstGeom prst="hexagon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45" name="GUI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8555" y="1619402"/>
            <a:ext cx="221285" cy="221285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10382098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GUI</a:t>
            </a:r>
            <a:endParaRPr lang="en-US" sz="16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7738" y="2258568"/>
            <a:ext cx="201168" cy="20116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10062058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Done</a:t>
            </a:r>
            <a:endParaRPr lang="en-US" sz="1300" dirty="0"/>
          </a:p>
        </p:txBody>
      </p:sp>
      <p:sp>
        <p:nvSpPr>
          <p:cNvPr id="49" name="Text 33"/>
          <p:cNvSpPr txBox="1"/>
          <p:nvPr/>
        </p:nvSpPr>
        <p:spPr>
          <a:xfrm>
            <a:off x="9787738" y="256032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Board geometry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Interface stub</a:t>
            </a:r>
            <a:endParaRPr lang="en-US" sz="12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87738" y="4270248"/>
            <a:ext cx="201168" cy="201168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10062058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Next</a:t>
            </a:r>
            <a:endParaRPr lang="en-US" sz="1300" dirty="0"/>
          </a:p>
        </p:txBody>
      </p:sp>
      <p:sp>
        <p:nvSpPr>
          <p:cNvPr id="52" name="Text 35"/>
          <p:cNvSpPr txBox="1"/>
          <p:nvPr/>
        </p:nvSpPr>
        <p:spPr>
          <a:xfrm>
            <a:off x="9787738" y="45720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Arcade replay viewer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Human play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Getting started</a:t>
            </a:r>
            <a:endParaRPr lang="en-US" sz="3600" dirty="0"/>
          </a:p>
        </p:txBody>
      </p:sp>
      <p:sp>
        <p:nvSpPr>
          <p:cNvPr id="3" name="commands"/>
          <p:cNvSpPr/>
          <p:nvPr/>
        </p:nvSpPr>
        <p:spPr>
          <a:xfrm>
            <a:off x="640080" y="1737360"/>
            <a:ext cx="6766560" cy="288036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6309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(use --extra cu130 on the RTX workstation)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 --extra cpu --extra dev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-n auto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carla simulate --games 5 --save runs/games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carla replay runs/games/game_0000.json.gz --step 120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carla tournament --config configs/bots.yaml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carla train configs/smoke.yaml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Open items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395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6676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Run uv lock once and commit uv.lock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03580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66760" y="2971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Review and merge setup into main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67588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6676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Each workstream picks up its TODOs (README status table)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31596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366760" y="4251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Decide whether the rules PDF stays in the repo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README.md documents the layout, the three contracts and the conventions.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LA Catan">
  <a:themeElements>
    <a:clrScheme name="CARLA Catan">
      <a:dk1>
        <a:srgbClr val="1F2933"/>
      </a:dk1>
      <a:lt1>
        <a:srgbClr val="FFFFFF"/>
      </a:lt1>
      <a:dk2>
        <a:srgbClr val="16324F"/>
      </a:dk2>
      <a:lt2>
        <a:srgbClr val="F1F4F7"/>
      </a:lt2>
      <a:accent1>
        <a:srgbClr val="C8553D"/>
      </a:accent1>
      <a:accent2>
        <a:srgbClr val="B7791F"/>
      </a:accent2>
      <a:accent3>
        <a:srgbClr val="2E7D5B"/>
      </a:accent3>
      <a:accent4>
        <a:srgbClr val="2F6F9F"/>
      </a:accent4>
      <a:accent5>
        <a:srgbClr val="5F6B76"/>
      </a:accent5>
      <a:accent6>
        <a:srgbClr val="6B5B95"/>
      </a:accent6>
      <a:hlink>
        <a:srgbClr val="2F6F9F"/>
      </a:hlink>
      <a:folHlink>
        <a:srgbClr val="6B5B95"/>
      </a:folHlink>
    </a:clrScheme>
    <a:fontScheme name="CARLA Cat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CARLA - codebase setup</dc:title>
  <dc:subject>PptxGenJS Presentation</dc:subject>
  <dc:creator>Rafael Reis</dc:creator>
  <cp:lastModifiedBy>Rafael Reis</cp:lastModifiedBy>
  <cp:revision>1</cp:revision>
  <dcterms:created xsi:type="dcterms:W3CDTF">2026-10-02T13:40:35Z</dcterms:created>
  <dcterms:modified xsi:type="dcterms:W3CDTF">2026-10-02T13:40:35Z</dcterms:modified>
</cp:coreProperties>
</file>